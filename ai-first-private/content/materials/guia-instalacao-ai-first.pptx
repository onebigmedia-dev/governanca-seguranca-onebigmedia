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5562" y="361950"/>
            <a:ext cx="327126" cy="43815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C8DC93D-97DB-47CF-8440-B7AE37573B00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One Big Media - IA First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2238324-E050-4259-8B0C-AA8B2FE68E7E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381125" cy="5715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A13F77F-A12B-4413-B042-5639B0C10E14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9048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Guia detalhado de instalação para o pré-curso AI First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A5FDFF8-3ED4-4F6F-A3AA-790BBF649CAA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Uma explicação passo a passo para quem nunca instalou ferramentas de programação.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19B3497-1AA9-45D7-9D74-246FFA0E096D}"/>
              </a:ext>
            </a:extLst>
          </p:cNvPr>
          <p:cNvSpPr>
            <a:spLocks noGrp="1"/>
          </p:cNvSpPr>
          <p:nvPr/>
        </p:nvSpPr>
        <p:spPr>
          <a:xfrm>
            <a:off x="8420100" y="4324350"/>
            <a:ext cx="3371850" cy="1200150"/>
          </a:xfrm>
          <a:prstGeom prst="roundRect">
            <a:avLst>
              <a:gd name="adj" fmla="val 6349"/>
            </a:avLst>
          </a:prstGeom>
          <a:solidFill>
            <a:srgbClr val="11131A"/>
          </a:solidFill>
          <a:ln w="9525">
            <a:solidFill>
              <a:srgbClr val="1113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9FF0FB-41C7-42C2-88AC-E6732D07CE38}"/>
              </a:ext>
            </a:extLst>
          </p:cNvPr>
          <p:cNvSpPr>
            <a:spLocks noGrp="1"/>
          </p:cNvSpPr>
          <p:nvPr/>
        </p:nvSpPr>
        <p:spPr>
          <a:xfrm>
            <a:off x="8667750" y="4572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8C9BF0F-1AD6-4C34-8C6B-F78F1E4F4F4A}"/>
              </a:ext>
            </a:extLst>
          </p:cNvPr>
          <p:cNvSpPr>
            <a:spLocks noGrp="1"/>
          </p:cNvSpPr>
          <p:nvPr/>
        </p:nvSpPr>
        <p:spPr>
          <a:xfrm>
            <a:off x="8667750" y="4876800"/>
            <a:ext cx="276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Chegar à Aula 01 com o ambiente validado.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1C7F690-A362-4CB8-87A3-DD5E80AD78F7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Pré-curso AI First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5529C4A-C68E-4E10-8043-494F5903FBF1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677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5E37C21B-B02F-4DED-A2AF-B721FCA55DC7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A instalação tem uma ordem simples e repetível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909E4CF-DE15-41B6-9DBD-C1E0F6CC5AEF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 ideia não é decorar comandos. É seguir a sequência, validar cada etapa e saber quando pedir ajuda.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F36F013-1036-4C4D-825B-0E838E82398D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781050" cy="590550"/>
          </a:xfrm>
          <a:prstGeom prst="roundRect">
            <a:avLst>
              <a:gd name="adj" fmla="val 12903"/>
            </a:avLst>
          </a:prstGeom>
          <a:solidFill>
            <a:srgbClr val="D896FF"/>
          </a:solidFill>
          <a:ln w="9525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0952EA4-DC48-492A-B90C-A5D72E16CE7C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78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36213F4-18C5-4C63-B8AF-890FB826362B}"/>
              </a:ext>
            </a:extLst>
          </p:cNvPr>
          <p:cNvSpPr>
            <a:spLocks noGrp="1"/>
          </p:cNvSpPr>
          <p:nvPr/>
        </p:nvSpPr>
        <p:spPr>
          <a:xfrm>
            <a:off x="1428750" y="2133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Preparar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DB3566D-C17A-4525-B099-BF594F433F24}"/>
              </a:ext>
            </a:extLst>
          </p:cNvPr>
          <p:cNvSpPr>
            <a:spLocks noGrp="1"/>
          </p:cNvSpPr>
          <p:nvPr/>
        </p:nvSpPr>
        <p:spPr>
          <a:xfrm>
            <a:off x="1428750" y="24765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Abrir a janela de comando correta e entender o que será instalado.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1456E9E-4C43-4708-9829-824F1AA8DDC4}"/>
              </a:ext>
            </a:extLst>
          </p:cNvPr>
          <p:cNvSpPr>
            <a:spLocks noGrp="1"/>
          </p:cNvSpPr>
          <p:nvPr/>
        </p:nvSpPr>
        <p:spPr>
          <a:xfrm>
            <a:off x="400050" y="2971800"/>
            <a:ext cx="78105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66CDF89-0968-4CED-8F8D-F60DE21AA8AB}"/>
              </a:ext>
            </a:extLst>
          </p:cNvPr>
          <p:cNvSpPr>
            <a:spLocks noGrp="1"/>
          </p:cNvSpPr>
          <p:nvPr/>
        </p:nvSpPr>
        <p:spPr>
          <a:xfrm>
            <a:off x="400050" y="3086100"/>
            <a:ext cx="78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0347CEC-D809-4B70-9F1B-1A6028B57A1D}"/>
              </a:ext>
            </a:extLst>
          </p:cNvPr>
          <p:cNvSpPr>
            <a:spLocks noGrp="1"/>
          </p:cNvSpPr>
          <p:nvPr/>
        </p:nvSpPr>
        <p:spPr>
          <a:xfrm>
            <a:off x="1428750" y="30099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Instalar ferramentas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D135DCA-ACCB-497E-8803-A1269FA9B5C3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VS Code, Git, Node.js, Python, Claude Code CLI e extensão no VS Code.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2B0C7A5-DE6E-4A54-AD20-233198AD2D5D}"/>
              </a:ext>
            </a:extLst>
          </p:cNvPr>
          <p:cNvSpPr>
            <a:spLocks noGrp="1"/>
          </p:cNvSpPr>
          <p:nvPr/>
        </p:nvSpPr>
        <p:spPr>
          <a:xfrm>
            <a:off x="400050" y="3848100"/>
            <a:ext cx="78105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D8F5C04-F52D-4C55-BE7F-E38DA2A3AAA3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78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1B4C561-763E-4CC1-A29B-8DACA3965038}"/>
              </a:ext>
            </a:extLst>
          </p:cNvPr>
          <p:cNvSpPr>
            <a:spLocks noGrp="1"/>
          </p:cNvSpPr>
          <p:nvPr/>
        </p:nvSpPr>
        <p:spPr>
          <a:xfrm>
            <a:off x="1428750" y="38862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77255EC-1A34-4849-B918-D543D2026C8D}"/>
              </a:ext>
            </a:extLst>
          </p:cNvPr>
          <p:cNvSpPr>
            <a:spLocks noGrp="1"/>
          </p:cNvSpPr>
          <p:nvPr/>
        </p:nvSpPr>
        <p:spPr>
          <a:xfrm>
            <a:off x="1428750" y="42291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Rodar comandos que confirmam se cada ferramenta responde.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3B6EE94-CF52-4C7B-98EE-6F59DF2E6872}"/>
              </a:ext>
            </a:extLst>
          </p:cNvPr>
          <p:cNvSpPr>
            <a:spLocks noGrp="1"/>
          </p:cNvSpPr>
          <p:nvPr/>
        </p:nvSpPr>
        <p:spPr>
          <a:xfrm>
            <a:off x="400050" y="4724400"/>
            <a:ext cx="78105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0A5D9F1-25EB-4293-8ADC-18743268F70D}"/>
              </a:ext>
            </a:extLst>
          </p:cNvPr>
          <p:cNvSpPr>
            <a:spLocks noGrp="1"/>
          </p:cNvSpPr>
          <p:nvPr/>
        </p:nvSpPr>
        <p:spPr>
          <a:xfrm>
            <a:off x="400050" y="4838700"/>
            <a:ext cx="78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0CC44A5-CC69-4692-9A79-D2B8E253C789}"/>
              </a:ext>
            </a:extLst>
          </p:cNvPr>
          <p:cNvSpPr>
            <a:spLocks noGrp="1"/>
          </p:cNvSpPr>
          <p:nvPr/>
        </p:nvSpPr>
        <p:spPr>
          <a:xfrm>
            <a:off x="1428750" y="47625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Pedir ajuda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35D869E-A7CD-49C3-B4D2-4EF6EB0E1F90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Se qualquer linha falhar, copiar o erro e enviar no canal do programa.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3A6A700-AE22-4CB9-B10C-AD7EAC804F6A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Mapa do processo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8C5C66E-7A99-4F02-8A92-9C4E119E1E9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967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A4088A68-6CAE-4B3C-9D2C-18436BE27BE8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Antes de instalar, entenda o que é uma janela de comando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59AC77F-C0E3-467C-A79A-6F45148A6B5E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5334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PowerShell no Windows e Terminal no macOS são lugares onde escrevemos instruções curtas para o computador executar.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A1F636D-F3AC-4E0B-8C1B-B81DC439005E}"/>
              </a:ext>
            </a:extLst>
          </p:cNvPr>
          <p:cNvSpPr>
            <a:spLocks noGrp="1"/>
          </p:cNvSpPr>
          <p:nvPr/>
        </p:nvSpPr>
        <p:spPr>
          <a:xfrm>
            <a:off x="6334125" y="1200150"/>
            <a:ext cx="5457825" cy="3905250"/>
          </a:xfrm>
          <a:prstGeom prst="roundRect">
            <a:avLst>
              <a:gd name="adj" fmla="val 1951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D983E32-328D-49F0-BB67-CA97A41C26DA}"/>
              </a:ext>
            </a:extLst>
          </p:cNvPr>
          <p:cNvSpPr>
            <a:spLocks noGrp="1"/>
          </p:cNvSpPr>
          <p:nvPr/>
        </p:nvSpPr>
        <p:spPr>
          <a:xfrm>
            <a:off x="6667500" y="15049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Você vai usar a janela de comando para três coisas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0808C97-AC79-44E3-82C8-C3D269D00F6B}"/>
              </a:ext>
            </a:extLst>
          </p:cNvPr>
          <p:cNvSpPr>
            <a:spLocks noGrp="1"/>
          </p:cNvSpPr>
          <p:nvPr/>
        </p:nvSpPr>
        <p:spPr>
          <a:xfrm>
            <a:off x="6667500" y="2057400"/>
            <a:ext cx="45720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• Confirmar se uma ferramenta foi instalada.</a:t>
            </a:r>
          </a:p>
          <a:p>
            <a:pPr algn="l">
              <a:defRPr sz="15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• Abrir o VS Code a partir da pasta atual.</a:t>
            </a:r>
          </a:p>
          <a:p>
            <a:pPr algn="l">
              <a:defRPr sz="15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• Copiar mensagens de erro quando algo falhar.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7E9BF72-B59E-402D-96F4-7C69967F0EE1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5334000" cy="819150"/>
          </a:xfrm>
          <a:prstGeom prst="roundRect">
            <a:avLst>
              <a:gd name="adj" fmla="val 9302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410E2C0-A145-42D4-BCF8-E5C88FF22536}"/>
              </a:ext>
            </a:extLst>
          </p:cNvPr>
          <p:cNvSpPr>
            <a:spLocks noGrp="1"/>
          </p:cNvSpPr>
          <p:nvPr/>
        </p:nvSpPr>
        <p:spPr>
          <a:xfrm>
            <a:off x="647700" y="407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Regra de ouro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5605CE5-99F9-43FD-BBC8-30D7CC2502B9}"/>
              </a:ext>
            </a:extLst>
          </p:cNvPr>
          <p:cNvSpPr>
            <a:spLocks noGrp="1"/>
          </p:cNvSpPr>
          <p:nvPr/>
        </p:nvSpPr>
        <p:spPr>
          <a:xfrm>
            <a:off x="647700" y="4362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Se apareceu uma versão ou uma tela abriu, a etapa provavelmente funcionou. Se apareceu erro em vermelho, copie e peça ajuda.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E6EE064-9C73-46A8-A749-F8781379FF23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Conceitos para iniciantes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A465EB4-FBB7-4F51-BEEB-85BE078B97B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398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A7F42D4B-DBA6-40A8-92BB-0EB7F54664A9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Um comando de validação responde à pergunta: está instalado?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9619A57-53A6-46C9-A797-3B9A06382D30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5334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Quando rodamos `code --version`, `git --version` ou `node --version`, não estamos programando. Estamos só perguntando se a ferramenta existe e responde.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A36DA40-FA3C-401F-9701-04C75F4970D4}"/>
              </a:ext>
            </a:extLst>
          </p:cNvPr>
          <p:cNvSpPr>
            <a:spLocks noGrp="1"/>
          </p:cNvSpPr>
          <p:nvPr/>
        </p:nvSpPr>
        <p:spPr>
          <a:xfrm>
            <a:off x="6334125" y="1200150"/>
            <a:ext cx="5457825" cy="3905250"/>
          </a:xfrm>
          <a:prstGeom prst="roundRect">
            <a:avLst>
              <a:gd name="adj" fmla="val 1951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BEE1D4-6DAB-4B18-BA3D-EBEF03AF3703}"/>
              </a:ext>
            </a:extLst>
          </p:cNvPr>
          <p:cNvSpPr>
            <a:spLocks noGrp="1"/>
          </p:cNvSpPr>
          <p:nvPr/>
        </p:nvSpPr>
        <p:spPr>
          <a:xfrm>
            <a:off x="6667500" y="15049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Como interpretar o resultado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FE32D01-7C56-490F-A90A-9DCDC7CB5679}"/>
              </a:ext>
            </a:extLst>
          </p:cNvPr>
          <p:cNvSpPr>
            <a:spLocks noGrp="1"/>
          </p:cNvSpPr>
          <p:nvPr/>
        </p:nvSpPr>
        <p:spPr>
          <a:xfrm>
            <a:off x="6667500" y="2057400"/>
            <a:ext cx="45720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• Se aparece um número de versão, a instalação respondeu.</a:t>
            </a:r>
          </a:p>
          <a:p>
            <a:pPr algn="l">
              <a:defRPr sz="15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• Se aparece uma ajuda ou lista de opções, a ferramenta existe.</a:t>
            </a:r>
          </a:p>
          <a:p>
            <a:pPr algn="l">
              <a:defRPr sz="15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• Se aparece 'não reconhecido' ou 'command not found', falta PATH, instalação ou terminal reaberto.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949D6FD-E151-4D95-81ED-87BBC12658E5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5334000" cy="819150"/>
          </a:xfrm>
          <a:prstGeom prst="roundRect">
            <a:avLst>
              <a:gd name="adj" fmla="val 9302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95F305-7628-4B98-9DB3-2EE1753D34AA}"/>
              </a:ext>
            </a:extLst>
          </p:cNvPr>
          <p:cNvSpPr>
            <a:spLocks noGrp="1"/>
          </p:cNvSpPr>
          <p:nvPr/>
        </p:nvSpPr>
        <p:spPr>
          <a:xfrm>
            <a:off x="647700" y="407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Regra de ouro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BA1CEC4-FF51-492B-8837-F00CDEB7FC99}"/>
              </a:ext>
            </a:extLst>
          </p:cNvPr>
          <p:cNvSpPr>
            <a:spLocks noGrp="1"/>
          </p:cNvSpPr>
          <p:nvPr/>
        </p:nvSpPr>
        <p:spPr>
          <a:xfrm>
            <a:off x="647700" y="4362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Se apareceu uma versão ou uma tela abriu, a etapa provavelmente funcionou. Se apareceu erro em vermelho, copie e peça ajuda.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390F17B-B3A5-4EF9-878B-123C9291946A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Conceitos para iniciantes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3177AA1-C6A2-4FF7-A739-4E6E33C2F5CF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7213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3235333-4A86-4E72-AE35-5B48A758255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09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Primeiro vamos preparar o Windows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B160BA9-0D6F-4970-9528-A437E59CDFC1}"/>
              </a:ext>
            </a:extLst>
          </p:cNvPr>
          <p:cNvSpPr>
            <a:spLocks noGrp="1"/>
          </p:cNvSpPr>
          <p:nvPr/>
        </p:nvSpPr>
        <p:spPr>
          <a:xfrm>
            <a:off x="400050" y="194310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Use esta sequência se seu computador for Windows.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EC6DC40-95D3-4795-AFB6-B01F0BFF905B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3543300" cy="2000250"/>
          </a:xfrm>
          <a:prstGeom prst="roundRect">
            <a:avLst>
              <a:gd name="adj" fmla="val 3810"/>
            </a:avLst>
          </a:prstGeom>
          <a:solidFill>
            <a:srgbClr val="11131A"/>
          </a:solidFill>
          <a:ln w="9525">
            <a:solidFill>
              <a:srgbClr val="1113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72B5185-EEB1-461C-8719-2EFDBA34F8B5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086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Onde abrir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5A19424-B98D-4848-A9F6-0991D82C82A2}"/>
              </a:ext>
            </a:extLst>
          </p:cNvPr>
          <p:cNvSpPr>
            <a:spLocks noGrp="1"/>
          </p:cNvSpPr>
          <p:nvPr/>
        </p:nvSpPr>
        <p:spPr>
          <a:xfrm>
            <a:off x="628650" y="3867150"/>
            <a:ext cx="3086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Menu Iniciar &gt; pesquisar PowerShell &gt; abrir a janela.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9243EDE-6174-4E4E-8E28-BDDC03E88700}"/>
              </a:ext>
            </a:extLst>
          </p:cNvPr>
          <p:cNvSpPr>
            <a:spLocks noGrp="1"/>
          </p:cNvSpPr>
          <p:nvPr/>
        </p:nvSpPr>
        <p:spPr>
          <a:xfrm>
            <a:off x="4191000" y="3143250"/>
            <a:ext cx="3543300" cy="2000250"/>
          </a:xfrm>
          <a:prstGeom prst="roundRect">
            <a:avLst>
              <a:gd name="adj" fmla="val 3810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61AC21B-32E3-4EC2-8CCC-9C921CDACC16}"/>
              </a:ext>
            </a:extLst>
          </p:cNvPr>
          <p:cNvSpPr>
            <a:spLocks noGrp="1"/>
          </p:cNvSpPr>
          <p:nvPr/>
        </p:nvSpPr>
        <p:spPr>
          <a:xfrm>
            <a:off x="4419600" y="3371850"/>
            <a:ext cx="3086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Como colar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B84860D-AC32-4051-BEED-E00EA427BFAF}"/>
              </a:ext>
            </a:extLst>
          </p:cNvPr>
          <p:cNvSpPr>
            <a:spLocks noGrp="1"/>
          </p:cNvSpPr>
          <p:nvPr/>
        </p:nvSpPr>
        <p:spPr>
          <a:xfrm>
            <a:off x="4419600" y="3867150"/>
            <a:ext cx="3086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Copie o bloco do guia, cole no PowerShell e pressione Enter.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940844F-AB3C-45CD-8104-C4915FC0F0B1}"/>
              </a:ext>
            </a:extLst>
          </p:cNvPr>
          <p:cNvSpPr>
            <a:spLocks noGrp="1"/>
          </p:cNvSpPr>
          <p:nvPr/>
        </p:nvSpPr>
        <p:spPr>
          <a:xfrm>
            <a:off x="7981950" y="3143250"/>
            <a:ext cx="3543300" cy="2000250"/>
          </a:xfrm>
          <a:prstGeom prst="roundRect">
            <a:avLst>
              <a:gd name="adj" fmla="val 3810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7B291BC-BCBD-42FF-9868-75F1856B3E4C}"/>
              </a:ext>
            </a:extLst>
          </p:cNvPr>
          <p:cNvSpPr>
            <a:spLocks noGrp="1"/>
          </p:cNvSpPr>
          <p:nvPr/>
        </p:nvSpPr>
        <p:spPr>
          <a:xfrm>
            <a:off x="8210550" y="3371850"/>
            <a:ext cx="3086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Como validar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C21376E-09DB-4375-90D9-1015491CA01D}"/>
              </a:ext>
            </a:extLst>
          </p:cNvPr>
          <p:cNvSpPr>
            <a:spLocks noGrp="1"/>
          </p:cNvSpPr>
          <p:nvPr/>
        </p:nvSpPr>
        <p:spPr>
          <a:xfrm>
            <a:off x="8210550" y="3867150"/>
            <a:ext cx="3086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Cada etapa tem um comando. Se uma linha falhar, pare e envie o erro.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E79A101-6C1E-4D93-B012-2E00F2194C30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927D021-F0CA-4F10-B9F7-3922F21A745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5314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70D12C94-F794-4A8F-99F5-2C9191AA0088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1: instalar VS Code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B9E75C-3651-439F-8132-91C160E6B9A3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VS Code é o editor onde você vai abrir a pasta do projeto, ver arquivos e revisar mudanças feitas com IA.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0290C23-3A72-4213-BEF4-E575F289F595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10191B9-A663-44F3-A699-E39F95B8CD8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F6BBE2B-C805-467E-BF9D-BCCDA00E17A1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Acesse code.visualstudio.com/download.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Baixe o instalador para Windows.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Durante a instalação, marque Add to PATH se essa opção aparecer.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Feche e reabra o PowerShell depois de instalar.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08FB3A1-268F-485F-BF9C-32A55FC3687B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37E36A2-3807-4B19-8595-F8EB6DA8C03B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3AFEAA2-7F06-471F-B3A8-7B26973252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104900"/>
          </a:xfrm>
          <a:prstGeom prst="roundRect">
            <a:avLst>
              <a:gd name="adj" fmla="val 6897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9103518-2355-47AA-8F2B-58CA88089927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7A9F3DB-5019-4B3D-8AFD-2EDE692BC961}"/>
              </a:ext>
            </a:extLst>
          </p:cNvPr>
          <p:cNvSpPr>
            <a:spLocks noGrp="1"/>
          </p:cNvSpPr>
          <p:nvPr/>
        </p:nvSpPr>
        <p:spPr>
          <a:xfrm>
            <a:off x="4552950" y="38100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aparece a versão do VS Code e, depois, o VS Code abre a pasta atual.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7ED113F-6D5E-46E0-8F8D-2ED38AC57CE8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5DAE98D-BD28-4AD1-AA6D-B34B9430CDF6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0486C0E-18DE-47CD-A8A1-B3A2CDE2449F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`code` não for reconhecido, reabra o PowerShell.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continuar, reinstale marcando Add to PATH.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Envie o erro com print ou texto copiado.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0CC691C-D9AD-44AE-95D6-C2899E2C5CF6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7321F7-3866-4758-8F9B-6C5014BF6727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PATH é a lista de lugares onde o Windows procura comandos. Marcar Add to PATH evita muito erro simples.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BE78717-E142-42A8-B295-9B299754A80D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47B78A3-000C-40AF-841F-FCD0F6C22E1C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834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4D066AC7-65BF-4C96-81DD-882C6D808C9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2: instalar Git for Windows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E19E86A-ACA8-445F-A904-A4F44144E37C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Git guarda o histórico do projeto. Ele permite comparar mudanças, desfazer problemas e organizar versões.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6DB1567-780E-4269-98C5-0984A8FBD5AD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7143D80-F6F3-4A2E-A9EA-0F63B05D78F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C66A98D-45A3-4AC8-8FDF-CDE9438C7814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Acesse git-scm.com/download/win.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Instale mantendo as opções padrão se o time não orientar diferente.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Depois configure seu nome e e-mail corporativo.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Esses dados aparecem no histórico de alterações.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EC556E1-482A-4E30-85E9-52173AF4C655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77E8BD6-560E-4AFB-8602-D92D318272EE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AF79DF9-B284-4E8E-89D7-195AE22C91D3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390650"/>
          </a:xfrm>
          <a:prstGeom prst="roundRect">
            <a:avLst>
              <a:gd name="adj" fmla="val 5479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D7E29EE-2151-468A-979B-A17657202DD2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config --global user.name "Seu Nome"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config --global user.email "voce@emotionstudios.com"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57FF721-324A-4A15-9876-15D62E24DABD}"/>
              </a:ext>
            </a:extLst>
          </p:cNvPr>
          <p:cNvSpPr>
            <a:spLocks noGrp="1"/>
          </p:cNvSpPr>
          <p:nvPr/>
        </p:nvSpPr>
        <p:spPr>
          <a:xfrm>
            <a:off x="4552950" y="40957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`git --version` mostra uma versão, como 2.x.x.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0FF3855-2B08-4F5A-B804-BF36B697A54A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2DC5236-2028-418B-B6B2-FA598EF4A229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2D693F1-0CD5-4574-9B26-4828B45349BF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Git não for reconhecido, feche e reabra o PowerShell.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Confira se o instalador terminou sem erro.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Use o e-mail corporativo, não e-mail pessoal.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9B1A39A-2FFB-4974-8701-F956500D5DAA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41C8729-8A5C-4359-83C8-F0A6822CE640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Pense no Git como o histórico do Word, só que para projetos inteiros.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AEF94DF-650A-48EE-A433-39C7E0A35A6E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A2D8816-8908-4AA7-A54E-2EF244993A9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351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444F7355-3D94-49CE-A582-F7353D6D5D4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3: instalar Node.js LTS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C6C2E58-D4D1-4023-80CB-C137E60CF359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Node.js permite rodar ferramentas web. No programa, ele será a base para Next.js e interfaces simples.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2AAF768-272B-40AE-863F-370BB72D351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60BDE70-D1A9-4AE6-AE7E-6B554974E599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6A80E74-759F-41D8-87D2-8DD40744827A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Acesse nodejs.org.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Baixe a versão LTS, que é a versão mais estável para trabalho.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Instale normalmente e reabra o PowerShell.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precisa instalar Next.js globalmente.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8ADAE63-AE3E-409A-93BE-6EE23B4253A2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765DCBF-0424-438B-B076-55E2AD436415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4D2323C-7781-4A76-AFDF-9B1FBB267E25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390650"/>
          </a:xfrm>
          <a:prstGeom prst="roundRect">
            <a:avLst>
              <a:gd name="adj" fmla="val 5479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8521584-C360-4227-A407-E95B7DF0BEED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npm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npx create-next-app@latest --version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E083BEB-58F5-46DC-95F1-9FC8D3F1C9F8}"/>
              </a:ext>
            </a:extLst>
          </p:cNvPr>
          <p:cNvSpPr>
            <a:spLocks noGrp="1"/>
          </p:cNvSpPr>
          <p:nvPr/>
        </p:nvSpPr>
        <p:spPr>
          <a:xfrm>
            <a:off x="4552950" y="40957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os três comandos retornam versão ou ajuda.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03F5DB5-8772-4A7A-9802-2FF2594D40CB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FAE81D5-EB1E-4170-BAE2-A18D1DADADD5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AFF7EC5-6B57-48DF-87A7-A21444A343A0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`node` falhar, a instalação não entrou no PATH.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`npx` demorar, aguarde; ele pode consultar a internet.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aparecer bloqueio de rede, envie o erro.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5321D4-E1D2-40F1-B544-AA1DC3DE8728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B65ACAF-9260-46A8-B9CB-C83C71B1ECCE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LTS significa versão de suporte estável. Para o curso, estabilidade importa mais que novidade.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801B40D-0DD2-4E44-A1C5-51E0FF1EEFBE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52CB930-D023-4990-915B-9120D7D19D0D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8228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CCF04613-3538-4CA8-B734-A40F3053052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4: instalar Python e pip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FF44CEC-79B6-4B4A-8E94-9AC3F19932D3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Python será usado para planilhas, arquivos, dados e automações pequenas.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139633B-D002-4316-A110-9FC2A409BE01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66C2DED-6F0E-4737-8CEA-DE6D0F1A3B03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BCA08BD-C2C7-4902-9BAC-0EB54B25D73A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Acesse python.org/downloads.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Baixe a versão recomendada para Windows.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No instalador, marque Add python.exe to PATH.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Depois valide Python e pip no PowerShell.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635EF7C-6A72-4408-B8B3-E007A94757D2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5FF42CE-DFD3-4F84-8B58-A4C4261D8A06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4BEEA62-DC50-49A6-AE96-263D89F94094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390650"/>
          </a:xfrm>
          <a:prstGeom prst="roundRect">
            <a:avLst>
              <a:gd name="adj" fmla="val 5479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8349DE4-3182-4EA2-8E71-6481DBD8DC26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pip --version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9BC0E22-9186-42BA-B6DB-144D99BE1863}"/>
              </a:ext>
            </a:extLst>
          </p:cNvPr>
          <p:cNvSpPr>
            <a:spLocks noGrp="1"/>
          </p:cNvSpPr>
          <p:nvPr/>
        </p:nvSpPr>
        <p:spPr>
          <a:xfrm>
            <a:off x="4552950" y="40957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pelo menos `python` ou `py` mostra versão, e `pip` também responde.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43F1055-BF42-4E0B-A7BC-814BEE9737F1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54CD31B-8FAC-499F-8857-A563E8FC6570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271E124-C5A2-4977-82D6-AE600BE9ABA1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Python não for reconhecido, provavelmente faltou marcar Add to PATH.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Reabra o PowerShell antes de testar de novo.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Copie a mensagem completa se o pip falhar.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F7BBB4C-E7A7-4D33-B0D3-AC97FD4211BD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B3DC40D-DB0F-4803-B776-249761CA0007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pip é o instalador de pacotes do Python. Ele ajuda quando um script precisar de uma biblioteca externa.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A3A7AFF-A017-464A-9C81-EABA916B985F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021A28C-771A-449F-8501-C124D56278B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042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DD8364E5-B236-4827-A6EE-E2FD6FB0434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5: instalar Claude Code CLI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90A1F6-0161-457D-B2AC-4A6C5F43F5F1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Claude Code CLI é o Claude trabalhando dentro da pasta do projeto, com capacidade de ler arquivos e propor alterações revisáveis.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C65D201-1601-4D3F-B413-1C68DBB821E0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658A19-6DD4-431A-BBC3-4D674511DAE7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C88860-F38C-4638-A010-E0A33923A87A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Abra o PowerShell normal, sem administrador.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Copie exatamente o comando oficial do guia.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Aguarde a instalação terminar.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Depois rode a verificação no mesmo PowerShell ou em um novo.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86EBF36-E5E3-45D8-B085-51603014AC26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735BCC4-E06D-459D-BC37-5D631B130F01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FF17450-0486-42FD-BC93-AEA762919BDB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390650"/>
          </a:xfrm>
          <a:prstGeom prst="roundRect">
            <a:avLst>
              <a:gd name="adj" fmla="val 5479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903151-6BB8-4996-9629-A74A4C4A62E0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irm https://claude.ai/install.ps1 | iex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claude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claude doctor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18880A7-62BB-4C6B-AA5D-7197000096A4}"/>
              </a:ext>
            </a:extLst>
          </p:cNvPr>
          <p:cNvSpPr>
            <a:spLocks noGrp="1"/>
          </p:cNvSpPr>
          <p:nvPr/>
        </p:nvSpPr>
        <p:spPr>
          <a:xfrm>
            <a:off x="4552950" y="40957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`claude --version` responde e `claude doctor` não mostra erro bloqueante.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536A7BD-9ED6-42AE-B9BD-1D00B2CA3F0A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82CA77C-B1D6-4A13-8231-F9C96D892A2B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3EF6A4F-0DD3-45FA-ABEF-71A939D25155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o download for bloqueado, envie o erro do PowerShell.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`claude` não for reconhecido, feche e reabra o terminal.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cole tokens, senhas ou chaves no chat.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E2DE37F-082C-4254-BB54-7A569C00A0F2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6A5B578-91C9-4E81-9D28-86C75C5B4225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Este passo instala a ferramenta. O login com credenciais especiais acontecerá depois, antes da Aula 01.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1BADCFD-C2B9-44B2-9A7E-2148F548BD26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9929C51-D667-4788-B045-8580BAF4C274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302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D95F0E20-F1F7-40F3-AD49-E1C8F784839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6: instalar a extensão no VS Code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DACFC5F-E9D6-45DB-872C-7A3087FCD180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 extensão coloca o Claude Code dentro do VS Code, facilitando revisão visual, painel lateral e fluxo com arquivos abertos.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A796985-B3CF-40E1-A006-6C2B5662F6BC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69BFB8-1A1E-4091-BC08-CC7DC4552A96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ABB8660-BCA5-4317-B30B-83BC4E7224EF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Abra o VS Code.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Pressione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Ctrl+Shift+X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para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abrir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Extensions.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</a:t>
            </a: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Procure Claude Code e </a:t>
            </a:r>
            <a:r>
              <a:rPr sz="1275" b="1" dirty="0" err="1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instale</a:t>
            </a: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 a </a:t>
            </a:r>
            <a:r>
              <a:rPr sz="1275" b="1" dirty="0" err="1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extensão</a:t>
            </a: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oficial</a:t>
            </a:r>
            <a:r>
              <a:rPr sz="1275" b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preferir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, rode o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de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instalação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pelo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PowerShell.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EB75F46-15F3-4D3E-A043-BD948F495CBE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B87EA01-B9A7-4F9C-81E2-20A8E3D9611F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7F00B2F-F0B2-404C-92EA-AEC46C21D269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819150"/>
          </a:xfrm>
          <a:prstGeom prst="roundRect">
            <a:avLst>
              <a:gd name="adj" fmla="val 9302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DEF1F5-7747-4243-B58D-7779933ED302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--install-extension anthropic.claude-code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E80451-DCA7-491F-B0FB-D34587E466B5}"/>
              </a:ext>
            </a:extLst>
          </p:cNvPr>
          <p:cNvSpPr>
            <a:spLocks noGrp="1"/>
          </p:cNvSpPr>
          <p:nvPr/>
        </p:nvSpPr>
        <p:spPr>
          <a:xfrm>
            <a:off x="4552950" y="35242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aparece o ícone ou painel do Claude Code no VS Code.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A11DA5E-1AF5-4AF2-AE9E-E63D2DA77DB7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F441DFC-299A-4D4F-A0F7-6D6406879F82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045E27E-9745-49D3-B442-A06995E4B0AC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`code` falhar, volte ao passo do VS Code.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a extensão não aparecer, feche e reabra o VS Code.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Confirme que está instalando a extensão da Anthropic.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B1A9BDC-40A6-4355-A85F-4E5586DEBA51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43B1152-7FE5-4896-8B8E-3822259847CC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 extensão não substitui a revisão humana. Ela só deixa o trabalho com arquivos mais confortável.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B882640-E910-45DC-8726-D46FBC33A491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8A1CD4F-8ABB-4277-8900-97529F0FB235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050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573B6563-44D9-4349-A10D-55FEC4F99A6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7: aguardar credenciais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6C160D8-58A7-47BB-8DB5-4FA10FA478DF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O pré-curso valida a instalação. O acesso individual ao Claude Code será liberado com credenciais especiais antes da Aula 01.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4ECD235-0F41-4B49-8028-D41990B127B0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F0C5EF6-1D32-4E4D-BA3E-2A6A221C002C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C93431D-3E52-4F6B-A3D7-FBF8696C7D86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tente usar conta compartilhada.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compartilhe sessão, token ou chave.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Aguarde a comunicação oficial do programa.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Mantenha a instalação pronta para quando as credenciais chegarem.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08BD25A-88DE-400F-B8B5-77662A54082B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B7990CA-F57C-4827-B3FD-61DF5BE82D52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FC320FB-10A5-4EF9-A61A-BD0C1377ABE8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4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Nesta etapa não há comando obrigatório no pré-curso. O importante é saber que o acesso será enviado antes da Aula 01.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1883657-E1B5-40C9-965D-9647A5592973}"/>
              </a:ext>
            </a:extLst>
          </p:cNvPr>
          <p:cNvSpPr>
            <a:spLocks noGrp="1"/>
          </p:cNvSpPr>
          <p:nvPr/>
        </p:nvSpPr>
        <p:spPr>
          <a:xfrm>
            <a:off x="4552950" y="43434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você sabe que a instalação está pronta e que o login será feito depois.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B422FD1-EC0F-465E-8037-36383A1C4109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029BECD-2774-4A9E-88D5-B38FA69FBA05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FF80AE8-72E4-4377-8E3E-98663046A440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aparecer tela de login, não force um acesso não autorizado.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tiver dúvida de conta, pergunte no canal do programa.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instale ferramentas pagas por conta própria.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516C31D-5EE6-496B-8D9B-4B8E19DCD7B3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4295B42-C197-469A-8038-B8442891B74B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Este slide existe para separar instalação de acesso. Hoje o objetivo é deixar o ambiente pronto.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DCC4DC9-5183-468D-9659-4B1B03B137E1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 passo a passo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0B194C9-DDD8-4676-9311-901734AAD9B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9301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B7AF1E40-BF3D-42B6-8EB2-890EAB739EC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8: rodar o check final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8BD4763-A094-40B8-B4A3-E0EB52BBAABC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O check final testa todas as ferramentas de uma vez. Ele é o melhor jeito de saber se você está pronto para a Aula 01.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CD47B97-6BC2-4F17-BB8C-85BF9B594938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0B6715C-80D2-492C-98DC-6AAF410B614C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BAB26D-76F5-4CD5-8602-203317695540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Abra o menu Iniciar.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Pesquise PowerShell e abra a janela.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Cole todos os comandos do bloco.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qualquer linha falhar, envie o erro no canal do programa.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0C601B1-D191-41D9-9E3A-9427C46033B2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0865432-3BE5-46EF-98BC-D33F2403DB58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1603CFA-49D7-44A5-A498-202D957EB012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2038350"/>
          </a:xfrm>
          <a:prstGeom prst="roundRect">
            <a:avLst>
              <a:gd name="adj" fmla="val 3738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DF27FE2-BCC7-40CC-94B9-19D12C6C8BF4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npm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pip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claude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claude doctor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BFAACD8-92AC-433C-AA20-251360E97C6B}"/>
              </a:ext>
            </a:extLst>
          </p:cNvPr>
          <p:cNvSpPr>
            <a:spLocks noGrp="1"/>
          </p:cNvSpPr>
          <p:nvPr/>
        </p:nvSpPr>
        <p:spPr>
          <a:xfrm>
            <a:off x="4552950" y="47434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todas as linhas respondem sem erro bloqueante.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19A7347-6528-44E4-B0D6-9D2B3FBBEE8E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3C314F4-52A6-4F37-AA6B-4A42AEFE3436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5AD1D34-C57C-42F4-B80F-1E654F4373CB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Informe que é Windows.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Diga que falhou no check final.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Copie a linha exata do erro.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05A97CF-6997-4238-B2F7-1FBDB706B0E4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8A46A89-3040-4291-83DD-80B2AF6E75CC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Não precisa entender todos os comandos. Basta rodar, observar e comunicar se falhar.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1F4549B-0064-408F-8B1C-7BC8E94BC80A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Windows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52FC096-F4B1-4458-8278-BDD508EAEF51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09148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8A2B2A41-16B7-4446-A650-A3B5B8E4121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09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Agora o mesmo processo no macOS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DF9A6C-066E-4120-95D1-D32CC5E91987}"/>
              </a:ext>
            </a:extLst>
          </p:cNvPr>
          <p:cNvSpPr>
            <a:spLocks noGrp="1"/>
          </p:cNvSpPr>
          <p:nvPr/>
        </p:nvSpPr>
        <p:spPr>
          <a:xfrm>
            <a:off x="400050" y="194310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Use esta sequência se seu computador for Mac.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B7B85EC-9AD2-4B3B-987C-397D58A52124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3543300" cy="2000250"/>
          </a:xfrm>
          <a:prstGeom prst="roundRect">
            <a:avLst>
              <a:gd name="adj" fmla="val 3810"/>
            </a:avLst>
          </a:prstGeom>
          <a:solidFill>
            <a:srgbClr val="11131A"/>
          </a:solidFill>
          <a:ln w="9525">
            <a:solidFill>
              <a:srgbClr val="1113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7AB581-C1F3-483D-9524-68E832407004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086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Onde abrir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D67849-4657-4267-829B-37A1C1C4E406}"/>
              </a:ext>
            </a:extLst>
          </p:cNvPr>
          <p:cNvSpPr>
            <a:spLocks noGrp="1"/>
          </p:cNvSpPr>
          <p:nvPr/>
        </p:nvSpPr>
        <p:spPr>
          <a:xfrm>
            <a:off x="628650" y="3867150"/>
            <a:ext cx="3086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Spotlight com Cmd+Espaço &gt; pesquisar Terminal &gt; abrir.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FC75799-460E-46FF-8DA5-1B26A3B535E3}"/>
              </a:ext>
            </a:extLst>
          </p:cNvPr>
          <p:cNvSpPr>
            <a:spLocks noGrp="1"/>
          </p:cNvSpPr>
          <p:nvPr/>
        </p:nvSpPr>
        <p:spPr>
          <a:xfrm>
            <a:off x="4191000" y="3143250"/>
            <a:ext cx="3543300" cy="2000250"/>
          </a:xfrm>
          <a:prstGeom prst="roundRect">
            <a:avLst>
              <a:gd name="adj" fmla="val 3810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FF80FB1-D916-44E8-AC6B-B0C05ADBE04F}"/>
              </a:ext>
            </a:extLst>
          </p:cNvPr>
          <p:cNvSpPr>
            <a:spLocks noGrp="1"/>
          </p:cNvSpPr>
          <p:nvPr/>
        </p:nvSpPr>
        <p:spPr>
          <a:xfrm>
            <a:off x="4419600" y="3371850"/>
            <a:ext cx="3086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Como colar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7AF047A-E65C-4DE8-99F8-47EEAA9CC64B}"/>
              </a:ext>
            </a:extLst>
          </p:cNvPr>
          <p:cNvSpPr>
            <a:spLocks noGrp="1"/>
          </p:cNvSpPr>
          <p:nvPr/>
        </p:nvSpPr>
        <p:spPr>
          <a:xfrm>
            <a:off x="4419600" y="3867150"/>
            <a:ext cx="3086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Cole o bloco no Terminal e pressione Enter.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CE59CBD-5BDD-46B7-9919-FEF79DF072EA}"/>
              </a:ext>
            </a:extLst>
          </p:cNvPr>
          <p:cNvSpPr>
            <a:spLocks noGrp="1"/>
          </p:cNvSpPr>
          <p:nvPr/>
        </p:nvSpPr>
        <p:spPr>
          <a:xfrm>
            <a:off x="7981950" y="3143250"/>
            <a:ext cx="3543300" cy="2000250"/>
          </a:xfrm>
          <a:prstGeom prst="roundRect">
            <a:avLst>
              <a:gd name="adj" fmla="val 3810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8A483D-F13E-4A9E-9828-741678278C39}"/>
              </a:ext>
            </a:extLst>
          </p:cNvPr>
          <p:cNvSpPr>
            <a:spLocks noGrp="1"/>
          </p:cNvSpPr>
          <p:nvPr/>
        </p:nvSpPr>
        <p:spPr>
          <a:xfrm>
            <a:off x="8210550" y="3371850"/>
            <a:ext cx="3086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A diferença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F34F23-1500-4DDA-8DEB-44B18088BD24}"/>
              </a:ext>
            </a:extLst>
          </p:cNvPr>
          <p:cNvSpPr>
            <a:spLocks noGrp="1"/>
          </p:cNvSpPr>
          <p:nvPr/>
        </p:nvSpPr>
        <p:spPr>
          <a:xfrm>
            <a:off x="8210550" y="3867150"/>
            <a:ext cx="3086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Python costuma usar `python3` e pip costuma usar `python3 -m pip`.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D2C9D4F-78E1-4143-88EF-26F2F10FD84B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E0FD793-FC31-4CDD-9104-B1137B9511D8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5123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173DEF80-989B-43A0-BFC3-DAD99B30FD6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 1: instalar VS Code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7F7EE94-B146-453A-9E2E-350652C09229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VS Code é o editor onde você abre a pasta do projeto, revisa arquivos e trabalha com Claude Code.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7333CAF-FFA8-4F9D-B45C-E5DBB1B402CF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952808-DE3A-4C1E-8DB6-45C064159949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CE1D42-D31A-46A6-BDC9-84C5B11839E7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Acesse code.visualstudio.com/download.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Baixe a versão para macOS.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Arraste o app para Aplicativos.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No VS Code, habilite o comando `code` pela Command Palette.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0B159FE-EAC0-4995-93DF-83BCF9134DAD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5C1AFFC-2212-4ED8-A363-EFF953D14AFB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8379482-1761-4C1B-B896-5E4227759E82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104900"/>
          </a:xfrm>
          <a:prstGeom prst="roundRect">
            <a:avLst>
              <a:gd name="adj" fmla="val 6897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62A218B-8852-4606-B691-A68A41D4F93C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4B507EA-C52C-4631-A55D-51F718F5DADE}"/>
              </a:ext>
            </a:extLst>
          </p:cNvPr>
          <p:cNvSpPr>
            <a:spLocks noGrp="1"/>
          </p:cNvSpPr>
          <p:nvPr/>
        </p:nvSpPr>
        <p:spPr>
          <a:xfrm>
            <a:off x="4552950" y="38100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aparece a versão e o VS Code abre a pasta atual.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C85E0AC-A2D2-4F9F-9B80-285175856682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9EEBA1F-3066-4CDD-8F12-B2555050FBC2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8DA35E0-4810-4C11-84FE-9A30943AEC4C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`code` não existir, habilite o comando no VS Code.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Reabra o Terminal depois de habilitar.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Envie o erro se continuar falhando.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A232C7A-8EF3-4FE3-BB7C-80B1500A823B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65F9057-055A-4ED0-94D6-524E6FD8FE51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No Mac, instalar o app e habilitar o comando `code` são duas coisas diferentes.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4AB55B1-82CE-4158-B6E1-6621C26C9A0B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6FAE35D-612D-4522-B748-439AA847BB95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2461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2D191C9B-5399-4D01-B64A-CB7C2F5A60B8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 2: instalar ferramentas de linha de comando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03B86C1-4775-4C34-8654-C59BF3DAFD26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O Git costuma vir com as Command Line Tools da Apple. Elas dão ao Terminal algumas ferramentas básicas de desenvolvimento.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04D0CFE-445B-4388-A5B9-B4E4A4EAF12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7D1FDF-8E93-4431-B523-E505A9ED39A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6319B7C-0F6A-4B4A-B092-C2A203B83AC9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Abra o Terminal.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Rode `xcode-select --install` se ainda não tiver as ferramentas.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Depois valide o Git.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Configure nome e e-mail corporativo.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D33336E-40E2-4DAA-BED5-D8DA2A6A8E60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5B34689-9B3B-4E24-B42D-C67DD7C69FCD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AC722AB-9840-4923-8022-DA5357177578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676400"/>
          </a:xfrm>
          <a:prstGeom prst="roundRect">
            <a:avLst>
              <a:gd name="adj" fmla="val 4545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6D8BFCD-6AC5-45D3-933E-48FB71B1D657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xcode-select --install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config --global user.name "Seu Nome"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config --global user.email "voce@emotionstudios.com"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080DAD-F084-4EED-8988-E29310245236}"/>
              </a:ext>
            </a:extLst>
          </p:cNvPr>
          <p:cNvSpPr>
            <a:spLocks noGrp="1"/>
          </p:cNvSpPr>
          <p:nvPr/>
        </p:nvSpPr>
        <p:spPr>
          <a:xfrm>
            <a:off x="4552950" y="43815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`git --version` mostra uma versão.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9F749AA-F3B9-4996-B320-B703F69EC556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E294AFB-F65C-4591-A4F7-ABE7D0A95826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0675016-53EE-4162-9B67-FE4227B79552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abrir uma janela da Apple, aceite a instalação.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disser que já está instalado, siga para a validação.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Use e-mail corporativo.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F5B5D72-9C3A-4746-A412-9E34D15F1933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2E6F2AC-0F45-4715-B137-BCEB6C160C3B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Git é o histórico do projeto. Ele ajuda a comparar, recuperar e explicar mudanças.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72FAC4A-C87F-4575-9B14-DF522D37C3A2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553BF08-C50F-4B9A-A266-75E38CF10DB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26827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37C35C02-65D9-43D0-83FA-173CC5C0586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 3: instalar Node.js LTS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ADCCD5-E4BE-40DE-958B-5CD80B044622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Node.js será usado para ferramentas web e para criar interfaces simples com Next.js quando chegar a hora.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C3EE211-395C-49C0-8FC8-A27A594BDFA6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A1AF864-EC65-4D2B-A91B-E0BC90611F72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4EC4BB5-6325-4965-9179-B58CAC71BC8F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Acesse nodejs.org.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Baixe a versão LTS para macOS.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o time já usa Homebrew, siga a orientação interna.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Reabra o Terminal antes de validar.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C02E4F2-2A9F-4F9F-9EFD-10F32A028643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9C271F-BC4F-4309-8008-10FC872A1356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318D4E-0AB4-44F7-BD43-00D47718D829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390650"/>
          </a:xfrm>
          <a:prstGeom prst="roundRect">
            <a:avLst>
              <a:gd name="adj" fmla="val 5479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9F0E75B-BC2E-40E0-9449-34ACF05A564C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npm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npx create-next-app@latest --version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C311707-2E5F-47D4-A9C2-6FD7AA5A67F6}"/>
              </a:ext>
            </a:extLst>
          </p:cNvPr>
          <p:cNvSpPr>
            <a:spLocks noGrp="1"/>
          </p:cNvSpPr>
          <p:nvPr/>
        </p:nvSpPr>
        <p:spPr>
          <a:xfrm>
            <a:off x="4552950" y="40957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os três comandos retornam versão ou ajuda.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9685BCA-4082-49A6-BB1C-777C9BE4C05C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2416117-BAF8-4D39-978A-CFBD15E6AD3D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D702C1E-600F-48C0-8583-694C11CC5F3E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`node` falhar, reabra o Terminal.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usou Homebrew, confirme se o install terminou.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houver bloqueio de rede, envie o erro.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5671E32-427A-43B9-9815-83BBEBE303A0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0B20C3E-94C9-423F-83BB-B7DCD616D11F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Você não precisa criar app agora. Esse comando só confirma que a ferramenta existe.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3DC3B0D-879A-4DBE-89A1-99D0662D409A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E7DAC5A-F93A-4023-96BF-CE274A33A2C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58046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431D0A49-782D-457E-A272-DB8B2BA8588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 4: instalar Python e pip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B70FAE3-20CE-4D42-9819-A05D6DA032DB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Python será usado para scripts, planilhas, dados e protótipos pequenos durante o programa.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8CE5FB6-7306-4072-A118-A9DBBD525C9A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47E7018-A243-4F4E-B08B-BF08A737BAF6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A9112EE-DFBD-445E-943D-F45B7D983D81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Acesse python.org/downloads.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Baixe a versão para macOS.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Instale e reabra o Terminal.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Valide usando `python3`, que é o nome comum no Mac.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4C3CB98-1B52-418E-A591-AE2652B0FF3C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B5B941C-DAF6-4C8F-8379-5BEDA56C071E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8C1224A-006D-460E-8CD0-DA28DBE776DA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104900"/>
          </a:xfrm>
          <a:prstGeom prst="roundRect">
            <a:avLst>
              <a:gd name="adj" fmla="val 6897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89A84BE-A8B2-4A14-926B-9B98990048C3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python3 -m pip --version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EC83360-B0A5-45DE-ABA9-545A750034D3}"/>
              </a:ext>
            </a:extLst>
          </p:cNvPr>
          <p:cNvSpPr>
            <a:spLocks noGrp="1"/>
          </p:cNvSpPr>
          <p:nvPr/>
        </p:nvSpPr>
        <p:spPr>
          <a:xfrm>
            <a:off x="4552950" y="38100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Python e pip mostram versão ou ajuda.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2283D70-D033-4AC7-9E65-56F1D8238EB0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F21D2EF-6497-45FC-AFAD-EDF6F30F55CF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906CC89-6408-4227-AA31-3C9103CD0018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`python3` falhar, confirme se o instalador terminou.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pip falhar, copie a mensagem completa.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use banco real sem aprovação.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8D9EE1F-98D6-4B9D-AA75-95892AA7B9DD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D0D6461-C2A6-4829-88DF-0052791F2BD0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No Mac, `python` e `python3` podem ser coisas diferentes. O guia usa `python3` para evitar confusão.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357E507-6F44-4AFF-AD95-8F0484BAEB83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7850360-4CE2-4E57-87A4-E6191E4C304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90267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03144014-D0AE-415D-9926-F9DA11DB3AE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 5: instalar Claude Code CLI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A66EEDA-EEC2-4AB7-BAB8-A3D99C07B53E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Claude Code CLI conecta o Claude à pasta do projeto para planejar, editar e explicar mudanças revisáveis.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2CD794D-FA1D-46CD-997F-5D03D7E76E65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4A10107-4508-43E6-B31D-0A588FB8AF6D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F2495D-059F-4751-BA20-2CAEA5A15B1B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Abra o Terminal.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Copie exatamente o comando oficial.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Aguarde a instalação terminar.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Reabra o Terminal se o comando `claude` não aparecer.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59CF748-2F72-4851-9700-9467748BF56B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B8CDE46-9B06-48F0-AA30-9DBCE51F1CEA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45519B0-4403-4A1F-8723-F13E0B2C2C51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1390650"/>
          </a:xfrm>
          <a:prstGeom prst="roundRect">
            <a:avLst>
              <a:gd name="adj" fmla="val 5479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B7150A-7D80-40EB-83EE-E0E7CF1E8DF6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curl -fsSL https://claude.ai/install.sh | bash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claude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claude doctor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1C96D7D-D9FF-4F7B-B505-90509CC0EC4A}"/>
              </a:ext>
            </a:extLst>
          </p:cNvPr>
          <p:cNvSpPr>
            <a:spLocks noGrp="1"/>
          </p:cNvSpPr>
          <p:nvPr/>
        </p:nvSpPr>
        <p:spPr>
          <a:xfrm>
            <a:off x="4552950" y="40957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`claude --version` responde e `claude doctor` não mostra erro bloqueante.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816C8E1-EDA1-46E9-BBCF-1417439E9DC5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FE0EB36-0915-46DA-B147-1A53DEC50D66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83C9B89-C367-41F6-BC5C-55296C57AFBF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o Terminal pedir permissão, leia a mensagem antes de aceitar.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`claude` não for reconhecido, reabra o Terminal.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houver erro de rede, envie o texto completo.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73CC1AF-A5F9-44BE-B24D-9BF767322C03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F3855BA-1FBE-4795-8D6E-C46730F93B01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O comando instala a ferramenta. O login será feito depois com as credenciais especiais do programa.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301FDA6-5796-4CB3-8695-72F886A17436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65760B1-F79D-48B7-81E3-043E1004659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99264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2D9700ED-08F8-4182-AD0F-B02487BA404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 6: instalar a extensão no VS Code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94C660A-0302-4605-BFE3-BDD3E1F46712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 extensão permite usar Claude Code dentro do editor, com painel visual e revisão de arquivos.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0B36680-A2A0-416D-B906-8330F838A8E5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3FEFB47-239A-4642-8C48-CEA5FE67C61C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500D44F-F250-4951-8E22-30D8260DC041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Abra o VS Code.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Pressione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Cmd+Shift+X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</a:t>
            </a: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Procure Claude Code e </a:t>
            </a:r>
            <a:r>
              <a:rPr sz="1275" b="1" dirty="0" err="1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instale</a:t>
            </a: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 a </a:t>
            </a:r>
            <a:r>
              <a:rPr sz="1275" b="1" dirty="0" err="1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extensão</a:t>
            </a: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oficial</a:t>
            </a: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Ou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instale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pelo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0B0B0F"/>
                </a:solidFill>
                <a:latin typeface="Aptos"/>
                <a:ea typeface="Aptos"/>
                <a:cs typeface="Aptos"/>
              </a:rPr>
              <a:t>abaixo</a:t>
            </a:r>
            <a:r>
              <a:rPr sz="1275" b="0" dirty="0">
                <a:solidFill>
                  <a:srgbClr val="0B0B0F"/>
                </a:solidFill>
                <a:latin typeface="Aptos"/>
                <a:ea typeface="Aptos"/>
                <a:cs typeface="Aptos"/>
              </a:rPr>
              <a:t> no Terminal.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9F16DCD-B9FE-43FF-AD12-7ABDB9DF2C7C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2F72DDD-2558-4B53-801F-8BF03D402FCF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4047341-FAC0-470D-801C-96C4044430C0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819150"/>
          </a:xfrm>
          <a:prstGeom prst="roundRect">
            <a:avLst>
              <a:gd name="adj" fmla="val 9302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BE345A0-3F28-44CC-A67B-F54CDD29353F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--install-extension anthropic.claude-code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A0E4FAD-5263-49F7-8BE3-7DE816A4496C}"/>
              </a:ext>
            </a:extLst>
          </p:cNvPr>
          <p:cNvSpPr>
            <a:spLocks noGrp="1"/>
          </p:cNvSpPr>
          <p:nvPr/>
        </p:nvSpPr>
        <p:spPr>
          <a:xfrm>
            <a:off x="4552950" y="35242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o painel ou ícone do Claude Code aparece no VS Code.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A9B9B5B-246C-4A4A-AE19-EE047B494167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6FFCAC8-74C7-4232-8BEE-31C0BB1FAF11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219E9EB-3964-47A4-B3B8-0CA1B0C08F1C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`code` falhar, volte ao passo do VS Code.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a extensão não aparecer, reabra o VS Code.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Confirme que é a extensão oficial da Anthropic.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679A1E2-CF96-4A3F-A372-E625D85701C5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A210135-D38B-4949-B664-BCC207AAF96D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Extensão instalada não significa permissão para rodar tudo automaticamente. Revise sempre.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7660ED2-47A6-4C7B-B9DD-3252805A1DE9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199A59B-DD3C-4CC9-9A2A-8A38C3F9F801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826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881B11DC-DC82-41C5-9E70-528F08446F8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 7: aguardar credenciais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6ECB7C3-0E5F-4EA5-9972-BAE4A46CB917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O guia para antes do login. As credenciais especiais serão enviadas para todos antes da Aula 01.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2E60B3F-0B9B-40D7-8F7E-C36F5019F76D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0A188D-1C6D-4FEC-AF47-990D213E8FEF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33E511E-6A72-4B65-A7E6-7A6B90FF16F0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use conta compartilhada.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compartilhe token, sessão ou chave.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Aguarde a orientação oficial.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Use este tempo para concluir o check final.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7420075-859D-4FC2-A455-655617141CD1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0F3CB63-6106-4CB9-A219-C8FE04758340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27F5A7B-4E27-4702-9CD1-F56C1A71BE80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4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Nesta etapa não há comando obrigatório no pré-curso. O importante é saber que o acesso será enviado antes da Aula 01.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6CED55-F16A-4798-A63E-5AD8A541DBDA}"/>
              </a:ext>
            </a:extLst>
          </p:cNvPr>
          <p:cNvSpPr>
            <a:spLocks noGrp="1"/>
          </p:cNvSpPr>
          <p:nvPr/>
        </p:nvSpPr>
        <p:spPr>
          <a:xfrm>
            <a:off x="4552950" y="43434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instalação validada; login será feito depois.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83B79F8-E225-461A-B573-57F764CBD20B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7B8E61-2B4C-4099-8BBB-36E9AFFDCE73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0BDB9F2-CF33-4192-B64F-5D6334D8C8A8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aparecer login, não tente improvisar acesso.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Pergunte no canal do programa.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Não compre ferramenta por conta própria.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00EEE1-ADE6-4677-8D64-471C26DAE636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7E78777-130C-46EC-B6C6-F1BA98490513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O objetivo do pré-curso é chegar pronto, não resolver acesso individual sem orientação.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92F384E-A63B-4162-BA7C-DB47C418130D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 passo a passo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A7923C6-0A45-43C4-83A1-7F6ECAF6A7DD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11733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58A1E2E3-F0B8-403C-9053-CFAFA2D02BC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 8: rodar o check final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9242555-F9C5-48CC-B252-BB651A810A12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O check final confirma em poucos segundos se o Mac está pronto para acompanhar a Aula 01.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F9F75E3-625E-4575-9594-BBE942691B89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DBCA54A-8A23-4420-8FF6-53FEF6424817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O que fazer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005D280-69C3-4C52-B05D-EA00CC196D61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Abra o Spotlight com Cmd+Espaço.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Pesquise Terminal e abra a janela.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Cole todos os comandos do bloco.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Se qualquer linha falhar, envie o erro no canal do programa.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7C830A9-DFCE-4CEC-B9A1-EF08C18221A2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7B62786-2BA7-4EB0-B794-2E808FE643DB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Comandos para validar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80D0F0E-FD57-46BA-B314-19C5E062776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3086100" cy="2038350"/>
          </a:xfrm>
          <a:prstGeom prst="roundRect">
            <a:avLst>
              <a:gd name="adj" fmla="val 3738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8A96D5C-45A3-4916-B71A-8BB7AA220F79}"/>
              </a:ext>
            </a:extLst>
          </p:cNvPr>
          <p:cNvSpPr>
            <a:spLocks noGrp="1"/>
          </p:cNvSpPr>
          <p:nvPr/>
        </p:nvSpPr>
        <p:spPr>
          <a:xfrm>
            <a:off x="4724400" y="2686050"/>
            <a:ext cx="27432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npm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python3 -m pip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claude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claude doctor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52273A9-BD1D-4DD1-90C3-E2BD1D344B93}"/>
              </a:ext>
            </a:extLst>
          </p:cNvPr>
          <p:cNvSpPr>
            <a:spLocks noGrp="1"/>
          </p:cNvSpPr>
          <p:nvPr/>
        </p:nvSpPr>
        <p:spPr>
          <a:xfrm>
            <a:off x="4552950" y="47434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F8F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F54"/>
                </a:solidFill>
                <a:latin typeface="Aptos"/>
                <a:ea typeface="Aptos"/>
                <a:cs typeface="Aptos"/>
              </a:rPr>
              <a:t>Sinal de sucesso: todas as linhas respondem sem erro bloqueante.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17EDC86-71FD-4520-8E07-F720C2A09625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43300" cy="3219450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F60AAFF-892C-4C1B-ABED-69DEEF66AB0E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Se algo der errado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01A0AED-C4B0-450E-B7D1-D2689618FA61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Informe que é macOS.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Diga que falhou no check final.</a:t>
            </a:r>
          </a:p>
          <a:p>
            <a:pPr algn="l">
              <a:defRPr sz="1275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• Copie a mensagem completa do Terminal.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6610385-9792-4D0C-AC96-262D0F20B7B9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685800" cy="3810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585513E-9231-4036-889C-C4AF158E2B07}"/>
              </a:ext>
            </a:extLst>
          </p:cNvPr>
          <p:cNvSpPr>
            <a:spLocks noGrp="1"/>
          </p:cNvSpPr>
          <p:nvPr/>
        </p:nvSpPr>
        <p:spPr>
          <a:xfrm>
            <a:off x="8477250" y="42481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 mensagem completa economiza tempo. Ela mostra o que falhou e onde o time deve olhar primeiro.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F402815-8B1B-470A-BDC5-E0CDBB6D8ACF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macOS passo a passo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FFAEA8-B911-479A-A2C6-499A3E1769A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09890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D1D0AB62-AE48-43FE-B988-867E0BF474F3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 e macOS fazem a mesma validação com nomes um pouco diferentes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257A6BF-7937-4C63-A93E-968A3CFA6E4A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Quando aparecer Python, o Windows costuma aceitar `python` ou `py`; no macOS, normalmente usamos `python3`.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B4E8930-92D2-4B79-9108-B4E836A4DBAC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5381625" cy="3048000"/>
          </a:xfrm>
          <a:prstGeom prst="roundRect">
            <a:avLst>
              <a:gd name="adj" fmla="val 2500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224FC4D-44D4-46B5-9B21-70B5E3CD4EA6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Windows: PowerShell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39E439B-F253-4866-814F-0A1E7F2924FD}"/>
              </a:ext>
            </a:extLst>
          </p:cNvPr>
          <p:cNvSpPr>
            <a:spLocks noGrp="1"/>
          </p:cNvSpPr>
          <p:nvPr/>
        </p:nvSpPr>
        <p:spPr>
          <a:xfrm>
            <a:off x="647700" y="2724150"/>
            <a:ext cx="4810125" cy="1619250"/>
          </a:xfrm>
          <a:prstGeom prst="roundRect">
            <a:avLst>
              <a:gd name="adj" fmla="val 4706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3AF20FA-1504-4F60-8863-236DDA3AB57B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446722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npm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pip --version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C69617B-2041-4501-B284-1854A7F14C56}"/>
              </a:ext>
            </a:extLst>
          </p:cNvPr>
          <p:cNvSpPr>
            <a:spLocks noGrp="1"/>
          </p:cNvSpPr>
          <p:nvPr/>
        </p:nvSpPr>
        <p:spPr>
          <a:xfrm>
            <a:off x="6410325" y="1952625"/>
            <a:ext cx="5381625" cy="3048000"/>
          </a:xfrm>
          <a:prstGeom prst="roundRect">
            <a:avLst>
              <a:gd name="adj" fmla="val 2500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83E094-451D-4D07-B030-752169143F24}"/>
              </a:ext>
            </a:extLst>
          </p:cNvPr>
          <p:cNvSpPr>
            <a:spLocks noGrp="1"/>
          </p:cNvSpPr>
          <p:nvPr/>
        </p:nvSpPr>
        <p:spPr>
          <a:xfrm>
            <a:off x="6657975" y="22098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macOS: Terminal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E4781BD-C10B-4D9D-A5B5-8DD24BE638C8}"/>
              </a:ext>
            </a:extLst>
          </p:cNvPr>
          <p:cNvSpPr>
            <a:spLocks noGrp="1"/>
          </p:cNvSpPr>
          <p:nvPr/>
        </p:nvSpPr>
        <p:spPr>
          <a:xfrm>
            <a:off x="6657975" y="2724150"/>
            <a:ext cx="4810125" cy="1619250"/>
          </a:xfrm>
          <a:prstGeom prst="roundRect">
            <a:avLst>
              <a:gd name="adj" fmla="val 4706"/>
            </a:avLst>
          </a:prstGeom>
          <a:solidFill>
            <a:srgbClr val="0B0D12"/>
          </a:solidFill>
          <a:ln w="9525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34E55F4-6A74-4559-AD09-2E93BFA53569}"/>
              </a:ext>
            </a:extLst>
          </p:cNvPr>
          <p:cNvSpPr>
            <a:spLocks noGrp="1"/>
          </p:cNvSpPr>
          <p:nvPr/>
        </p:nvSpPr>
        <p:spPr>
          <a:xfrm>
            <a:off x="6829425" y="2876550"/>
            <a:ext cx="446722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npm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python3 --version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python3 -m pip --version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653BDBF-6809-4199-8D99-6E1C3380BDF2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Diferenças entre sistemas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C7FD28D-2404-4322-9BF4-CEA7F7A2FC5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1060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B828F97B-ECB5-4B54-B273-6936377DCF44}"/>
              </a:ext>
            </a:extLst>
          </p:cNvPr>
          <p:cNvSpPr>
            <a:spLocks noGrp="1"/>
          </p:cNvSpPr>
          <p:nvPr/>
        </p:nvSpPr>
        <p:spPr>
          <a:xfrm>
            <a:off x="400050" y="419100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Erro não é fracasso: é só uma pista do que falta ajustar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51EFC3B-9F84-426F-A27A-BCD0EEBD58DC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 mensagem de erro ajuda o time a entender exatamente onde a instalação parou.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BC153B1-95EB-42CD-AE75-A328F2804891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9620250" cy="781050"/>
          </a:xfrm>
          <a:prstGeom prst="roundRect">
            <a:avLst>
              <a:gd name="adj" fmla="val 9756"/>
            </a:avLst>
          </a:prstGeom>
          <a:solidFill>
            <a:srgbClr val="11131A"/>
          </a:solidFill>
          <a:ln w="9525">
            <a:solidFill>
              <a:srgbClr val="1113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6225B4A-ED7E-422B-8325-6F68BEA35351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Copie a mensagem inteira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5C0DFF9-DC7E-46DC-B51B-25582AF29E7C}"/>
              </a:ext>
            </a:extLst>
          </p:cNvPr>
          <p:cNvSpPr>
            <a:spLocks noGrp="1"/>
          </p:cNvSpPr>
          <p:nvPr/>
        </p:nvSpPr>
        <p:spPr>
          <a:xfrm>
            <a:off x="4000500" y="2286000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Não mande apenas 'não funcionou'. Copie a linha do erro e, se possível, algumas linhas antes e depois.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121340B-8498-4A59-A587-A61F711642F2}"/>
              </a:ext>
            </a:extLst>
          </p:cNvPr>
          <p:cNvSpPr>
            <a:spLocks noGrp="1"/>
          </p:cNvSpPr>
          <p:nvPr/>
        </p:nvSpPr>
        <p:spPr>
          <a:xfrm>
            <a:off x="400050" y="3162300"/>
            <a:ext cx="9620250" cy="781050"/>
          </a:xfrm>
          <a:prstGeom prst="roundRect">
            <a:avLst>
              <a:gd name="adj" fmla="val 9756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36C471-9DA9-4FD7-90E6-5E266BB2B765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Diga em qual etapa parou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0C670D6-2C2C-4CC5-8EAC-A31BE97F00CF}"/>
              </a:ext>
            </a:extLst>
          </p:cNvPr>
          <p:cNvSpPr>
            <a:spLocks noGrp="1"/>
          </p:cNvSpPr>
          <p:nvPr/>
        </p:nvSpPr>
        <p:spPr>
          <a:xfrm>
            <a:off x="4000500" y="3352800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Exemplo: Windows, etapa 3, validação do Node.js.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544AC16-0819-49EC-B764-3C8CF7EBBECC}"/>
              </a:ext>
            </a:extLst>
          </p:cNvPr>
          <p:cNvSpPr>
            <a:spLocks noGrp="1"/>
          </p:cNvSpPr>
          <p:nvPr/>
        </p:nvSpPr>
        <p:spPr>
          <a:xfrm>
            <a:off x="400050" y="4229100"/>
            <a:ext cx="9620250" cy="781050"/>
          </a:xfrm>
          <a:prstGeom prst="roundRect">
            <a:avLst>
              <a:gd name="adj" fmla="val 9756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8DEAA7A-8814-48CA-8A9C-FB5622EEFC07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Informe o que você tentou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3C4CA7-7EEB-444A-BF7E-5FFEA8E2CEE4}"/>
              </a:ext>
            </a:extLst>
          </p:cNvPr>
          <p:cNvSpPr>
            <a:spLocks noGrp="1"/>
          </p:cNvSpPr>
          <p:nvPr/>
        </p:nvSpPr>
        <p:spPr>
          <a:xfrm>
            <a:off x="4000500" y="4419600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Exemplo: reabri o PowerShell, rodei de novo e o mesmo erro apareceu.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A80F4DC-D732-402D-ACE4-FC63C5AF2DBF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Como pedir ajuda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846D0F6-8EE9-4DD9-AE39-ED1EED206206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19396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9113FE8B-ADEA-4B94-A6CA-70BB367A4CB5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62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Checklist final: marque só quando você viu o sinal de sucesso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DE3204B-85B7-4DA2-856C-C97579B7B26A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6B9DA35-D213-482F-B8AE-0F53482F7344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89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6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056969F-7C7E-4F6B-983B-5ED735BA32F7}"/>
              </a:ext>
            </a:extLst>
          </p:cNvPr>
          <p:cNvSpPr>
            <a:spLocks noGrp="1"/>
          </p:cNvSpPr>
          <p:nvPr/>
        </p:nvSpPr>
        <p:spPr>
          <a:xfrm>
            <a:off x="1028700" y="153352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VS Code responde ao comando `code --version`.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617E300-AB0B-4488-B153-B382E0D52914}"/>
              </a:ext>
            </a:extLst>
          </p:cNvPr>
          <p:cNvSpPr>
            <a:spLocks noGrp="1"/>
          </p:cNvSpPr>
          <p:nvPr/>
        </p:nvSpPr>
        <p:spPr>
          <a:xfrm>
            <a:off x="6096000" y="140970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9A9F86-262F-48B0-B538-47784C7A5164}"/>
              </a:ext>
            </a:extLst>
          </p:cNvPr>
          <p:cNvSpPr>
            <a:spLocks noGrp="1"/>
          </p:cNvSpPr>
          <p:nvPr/>
        </p:nvSpPr>
        <p:spPr>
          <a:xfrm>
            <a:off x="6267450" y="153352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89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738283-9839-4E01-BBB4-E6888519816A}"/>
              </a:ext>
            </a:extLst>
          </p:cNvPr>
          <p:cNvSpPr>
            <a:spLocks noGrp="1"/>
          </p:cNvSpPr>
          <p:nvPr/>
        </p:nvSpPr>
        <p:spPr>
          <a:xfrm>
            <a:off x="6724650" y="153352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Git mostra versão e tem nome/e-mail configurados.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D261736-B480-4A72-8E2D-61864E32628B}"/>
              </a:ext>
            </a:extLst>
          </p:cNvPr>
          <p:cNvSpPr>
            <a:spLocks noGrp="1"/>
          </p:cNvSpPr>
          <p:nvPr/>
        </p:nvSpPr>
        <p:spPr>
          <a:xfrm>
            <a:off x="400050" y="222885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25283FA-43F2-406E-AF87-46B301828D99}"/>
              </a:ext>
            </a:extLst>
          </p:cNvPr>
          <p:cNvSpPr>
            <a:spLocks noGrp="1"/>
          </p:cNvSpPr>
          <p:nvPr/>
        </p:nvSpPr>
        <p:spPr>
          <a:xfrm>
            <a:off x="571500" y="23526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89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11E304D-E1E3-47C0-9866-41537906098F}"/>
              </a:ext>
            </a:extLst>
          </p:cNvPr>
          <p:cNvSpPr>
            <a:spLocks noGrp="1"/>
          </p:cNvSpPr>
          <p:nvPr/>
        </p:nvSpPr>
        <p:spPr>
          <a:xfrm>
            <a:off x="1028700" y="235267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Node.js, npm e create-next-app retornam versão ou ajuda.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31138C4-E449-4F31-82A8-21483008D204}"/>
              </a:ext>
            </a:extLst>
          </p:cNvPr>
          <p:cNvSpPr>
            <a:spLocks noGrp="1"/>
          </p:cNvSpPr>
          <p:nvPr/>
        </p:nvSpPr>
        <p:spPr>
          <a:xfrm>
            <a:off x="6096000" y="222885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2CBAA25-77DA-45B6-BC00-3D70F098E0F5}"/>
              </a:ext>
            </a:extLst>
          </p:cNvPr>
          <p:cNvSpPr>
            <a:spLocks noGrp="1"/>
          </p:cNvSpPr>
          <p:nvPr/>
        </p:nvSpPr>
        <p:spPr>
          <a:xfrm>
            <a:off x="6267450" y="23526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89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0F54AD5-2D2A-49B7-8C73-D2ACDF5EA0F5}"/>
              </a:ext>
            </a:extLst>
          </p:cNvPr>
          <p:cNvSpPr>
            <a:spLocks noGrp="1"/>
          </p:cNvSpPr>
          <p:nvPr/>
        </p:nvSpPr>
        <p:spPr>
          <a:xfrm>
            <a:off x="6724650" y="235267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Python e pip respondem no terminal correto.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4DCA6B3-9D55-45C3-A901-86127C9A7B36}"/>
              </a:ext>
            </a:extLst>
          </p:cNvPr>
          <p:cNvSpPr>
            <a:spLocks noGrp="1"/>
          </p:cNvSpPr>
          <p:nvPr/>
        </p:nvSpPr>
        <p:spPr>
          <a:xfrm>
            <a:off x="400050" y="304800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24EF99E-F56E-417C-B5A8-DD7FF7BE555F}"/>
              </a:ext>
            </a:extLst>
          </p:cNvPr>
          <p:cNvSpPr>
            <a:spLocks noGrp="1"/>
          </p:cNvSpPr>
          <p:nvPr/>
        </p:nvSpPr>
        <p:spPr>
          <a:xfrm>
            <a:off x="571500" y="317182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89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1BA04F2-E9D2-4F23-BEA9-711EA8A60839}"/>
              </a:ext>
            </a:extLst>
          </p:cNvPr>
          <p:cNvSpPr>
            <a:spLocks noGrp="1"/>
          </p:cNvSpPr>
          <p:nvPr/>
        </p:nvSpPr>
        <p:spPr>
          <a:xfrm>
            <a:off x="1028700" y="317182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Claude Code CLI responde com `claude --version`.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43B12DE-73F2-4D55-AD79-E1E513C77748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C297198-BCF2-4D03-BB26-9C94B2D7CBE9}"/>
              </a:ext>
            </a:extLst>
          </p:cNvPr>
          <p:cNvSpPr>
            <a:spLocks noGrp="1"/>
          </p:cNvSpPr>
          <p:nvPr/>
        </p:nvSpPr>
        <p:spPr>
          <a:xfrm>
            <a:off x="6267450" y="317182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89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6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A157EE1-46E5-45E9-BCCB-2105483B435B}"/>
              </a:ext>
            </a:extLst>
          </p:cNvPr>
          <p:cNvSpPr>
            <a:spLocks noGrp="1"/>
          </p:cNvSpPr>
          <p:nvPr/>
        </p:nvSpPr>
        <p:spPr>
          <a:xfrm>
            <a:off x="6724650" y="317182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`claude doctor` não mostra erro bloqueante.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96DBE6F-B29C-42A6-B55B-2EBE7B0A965E}"/>
              </a:ext>
            </a:extLst>
          </p:cNvPr>
          <p:cNvSpPr>
            <a:spLocks noGrp="1"/>
          </p:cNvSpPr>
          <p:nvPr/>
        </p:nvSpPr>
        <p:spPr>
          <a:xfrm>
            <a:off x="400050" y="386715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D9E7D3B-3156-4E01-9D77-08BF69E28928}"/>
              </a:ext>
            </a:extLst>
          </p:cNvPr>
          <p:cNvSpPr>
            <a:spLocks noGrp="1"/>
          </p:cNvSpPr>
          <p:nvPr/>
        </p:nvSpPr>
        <p:spPr>
          <a:xfrm>
            <a:off x="571500" y="39909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89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6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D02C7EF-3605-4025-BC16-342394649349}"/>
              </a:ext>
            </a:extLst>
          </p:cNvPr>
          <p:cNvSpPr>
            <a:spLocks noGrp="1"/>
          </p:cNvSpPr>
          <p:nvPr/>
        </p:nvSpPr>
        <p:spPr>
          <a:xfrm>
            <a:off x="1028700" y="399097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Extensão Claude Code aparece no VS Code.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7536094-359E-4798-853F-70EE3DDBE0EC}"/>
              </a:ext>
            </a:extLst>
          </p:cNvPr>
          <p:cNvSpPr>
            <a:spLocks noGrp="1"/>
          </p:cNvSpPr>
          <p:nvPr/>
        </p:nvSpPr>
        <p:spPr>
          <a:xfrm>
            <a:off x="6096000" y="386715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CACD7D4-ECB1-42FE-A522-B05162326C0B}"/>
              </a:ext>
            </a:extLst>
          </p:cNvPr>
          <p:cNvSpPr>
            <a:spLocks noGrp="1"/>
          </p:cNvSpPr>
          <p:nvPr/>
        </p:nvSpPr>
        <p:spPr>
          <a:xfrm>
            <a:off x="6267450" y="39909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89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6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D10BB8A-70C3-46AA-8C30-4F8D866CFB71}"/>
              </a:ext>
            </a:extLst>
          </p:cNvPr>
          <p:cNvSpPr>
            <a:spLocks noGrp="1"/>
          </p:cNvSpPr>
          <p:nvPr/>
        </p:nvSpPr>
        <p:spPr>
          <a:xfrm>
            <a:off x="6724650" y="399097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F"/>
                </a:solidFill>
                <a:latin typeface="Aptos"/>
                <a:ea typeface="Aptos"/>
                <a:cs typeface="Aptos"/>
              </a:rPr>
              <a:t>Você sabe que as credenciais chegam antes da Aula 01.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5683D1F-23EB-46F6-AF50-50E7615C7C0B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Checklist final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ADF2B95-44CB-4941-9E5B-CB92C533EF8C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02672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CE79A2F8-62F2-4B0C-A96C-4ADD30D6A0D5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Use sempre os links oficiais do guia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B35FB9-6514-4916-B5B7-339D91FB394D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Evite buscar instaladores aleatórios. O pré-curso usa fontes oficiais para reduzir risco e retrabalho.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8BCABA5-FC49-46F4-B84C-5342E1624001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1939259-5636-45AC-930B-A98FD391BC9A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VS Code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7058CAF-601D-45BB-9882-FFE7225C85E8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code.visualstudio.com/download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17E8278-2781-4B80-83B6-D138D07474D6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3EF1609-5F90-4C2B-AA97-C7A52CD52AE6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CF07213-E676-4E78-953A-E6E11FE91B2C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git-scm.com/downloads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167FDCA-0169-4A75-B151-63797ECAD21A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4E16AD5-DE55-4F61-9FA0-C8BE64D98DB7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Node.js LTS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96976EC-06F2-4E9A-A5B3-A6CD3D176CBA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nodejs.org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22F4F8F-21C3-4774-86D4-0128B08FE735}"/>
              </a:ext>
            </a:extLst>
          </p:cNvPr>
          <p:cNvSpPr>
            <a:spLocks noGrp="1"/>
          </p:cNvSpPr>
          <p:nvPr/>
        </p:nvSpPr>
        <p:spPr>
          <a:xfrm>
            <a:off x="6096000" y="29527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D99DD0E-5B99-4CF3-833E-D177E0D6D664}"/>
              </a:ext>
            </a:extLst>
          </p:cNvPr>
          <p:cNvSpPr>
            <a:spLocks noGrp="1"/>
          </p:cNvSpPr>
          <p:nvPr/>
        </p:nvSpPr>
        <p:spPr>
          <a:xfrm>
            <a:off x="6324600" y="31051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5C7DDF1-168E-48BB-B207-6BFC5F2DE77F}"/>
              </a:ext>
            </a:extLst>
          </p:cNvPr>
          <p:cNvSpPr>
            <a:spLocks noGrp="1"/>
          </p:cNvSpPr>
          <p:nvPr/>
        </p:nvSpPr>
        <p:spPr>
          <a:xfrm>
            <a:off x="6324600" y="33718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python.org/downloads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5852DC1-86BA-453C-9F21-CD558BF788B5}"/>
              </a:ext>
            </a:extLst>
          </p:cNvPr>
          <p:cNvSpPr>
            <a:spLocks noGrp="1"/>
          </p:cNvSpPr>
          <p:nvPr/>
        </p:nvSpPr>
        <p:spPr>
          <a:xfrm>
            <a:off x="400050" y="39433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409FAF4-1AC6-4AF7-A1F5-0BE0E1DBA8E9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Claude Code setup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DF2B4C0-5092-4B4A-BE5F-ED4AD6537554}"/>
              </a:ext>
            </a:extLst>
          </p:cNvPr>
          <p:cNvSpPr>
            <a:spLocks noGrp="1"/>
          </p:cNvSpPr>
          <p:nvPr/>
        </p:nvSpPr>
        <p:spPr>
          <a:xfrm>
            <a:off x="628650" y="43624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code.claude.com/docs/en/setup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0F2D422-333F-4A7F-848C-3F05BA2F7852}"/>
              </a:ext>
            </a:extLst>
          </p:cNvPr>
          <p:cNvSpPr>
            <a:spLocks noGrp="1"/>
          </p:cNvSpPr>
          <p:nvPr/>
        </p:nvSpPr>
        <p:spPr>
          <a:xfrm>
            <a:off x="6096000" y="39433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2F2F4"/>
          </a:solidFill>
          <a:ln w="9525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4EEAD3B-BFD7-4D97-9F06-3D85E5A1EECA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0B0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F"/>
                </a:solidFill>
                <a:latin typeface="Aptos"/>
                <a:ea typeface="Aptos"/>
                <a:cs typeface="Aptos"/>
              </a:rPr>
              <a:t>Extensão VS Code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345E7F2-86A0-4A12-A48B-1CB597534EF6}"/>
              </a:ext>
            </a:extLst>
          </p:cNvPr>
          <p:cNvSpPr>
            <a:spLocks noGrp="1"/>
          </p:cNvSpPr>
          <p:nvPr/>
        </p:nvSpPr>
        <p:spPr>
          <a:xfrm>
            <a:off x="6324600" y="43624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marketplace.visualstudio.com/items?itemName=anthropic.claude-code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B49BCF2-45F6-444C-B05B-52E0B4F9C6C3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Links oficiais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293C57-E8E6-4BF0-B3D3-6478CC65D2F1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8658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3295C6A-6249-4880-A271-8FD98D3ACCB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4171950"/>
          </a:xfrm>
          <a:prstGeom prst="roundRect">
            <a:avLst>
              <a:gd name="adj" fmla="val 1826"/>
            </a:avLst>
          </a:prstGeom>
          <a:solidFill>
            <a:srgbClr val="11131A"/>
          </a:solidFill>
          <a:ln w="9525">
            <a:solidFill>
              <a:srgbClr val="1113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C1261D3-9627-4E4E-A663-CBF6B7856DB6}"/>
              </a:ext>
            </a:extLst>
          </p:cNvPr>
          <p:cNvSpPr>
            <a:spLocks noGrp="1"/>
          </p:cNvSpPr>
          <p:nvPr/>
        </p:nvSpPr>
        <p:spPr>
          <a:xfrm>
            <a:off x="800100" y="990600"/>
            <a:ext cx="8667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Ao terminar, você não precisa saber programar ainda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387FE58-0F1C-4624-823D-494D1C03BC0F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8096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Você só precisa chegar à Aula 01 com o ambiente pronto, sabendo abrir a janela de comando, validar as ferramentas e pedir ajuda com uma mensagem de erro completa.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C4C5682-004F-47DE-98F4-1E01C05831BD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143000" cy="57150"/>
          </a:xfrm>
          <a:prstGeom prst="rect">
            <a:avLst/>
          </a:prstGeom>
          <a:solidFill>
            <a:srgbClr val="D896FF"/>
          </a:solidFill>
          <a:ln w="0">
            <a:solidFill>
              <a:srgbClr val="D896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0A6E45B-B08F-40BF-A85B-3F46AEBF6BE3}"/>
              </a:ext>
            </a:extLst>
          </p:cNvPr>
          <p:cNvSpPr>
            <a:spLocks noGrp="1"/>
          </p:cNvSpPr>
          <p:nvPr/>
        </p:nvSpPr>
        <p:spPr>
          <a:xfrm>
            <a:off x="800100" y="3695700"/>
            <a:ext cx="819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Próximo passo: aguardar as credenciais especiais e usar o canal do programa caso algum check falhe.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2C234D-42EF-4498-AD9E-A2F242ECEEB1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Pronto para a Aula 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F7003C7-3C34-4181-9F99-6C27900EDEB5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629233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3495</Words>
  <Application>Microsoft Office PowerPoint</Application>
  <DocSecurity>0</DocSecurity>
  <PresentationFormat>Widescreen</PresentationFormat>
  <Paragraphs>435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Aptos</vt:lpstr>
      <vt:lpstr>Calibri</vt:lpstr>
      <vt:lpstr>Consolas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Paulo Soares de Moura</cp:lastModifiedBy>
  <cp:revision>1</cp:revision>
  <dcterms:created xsi:type="dcterms:W3CDTF">2026-07-10T16:56:38Z</dcterms:created>
  <dcterms:modified xsi:type="dcterms:W3CDTF">2026-07-10T19:16:32Z</dcterms:modified>
</cp:coreProperties>
</file>